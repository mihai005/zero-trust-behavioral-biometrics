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Inter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slide" Target="slides/slide9.xml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00d6d8783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00d6d8783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00d6d8783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00d6d8783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00d6d8783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00d6d8783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01bd09768_2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01bd09768_2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01bd09768_28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01bd09768_28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01bd09768_28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01bd09768_28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01bd09768_28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01bd09768_28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01bd09768_28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01bd09768_28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0117ea7a1_6_0)">
  <p:cSld name="Generated (g3f0117ea7a1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320950"/>
            <a:ext cx="8520600" cy="291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o" sz="4080"/>
              <a:t>Continuous Behavioral Biometrics for Zero-Trust Network Access: An Event-Driven Microservices Architecture</a:t>
            </a:r>
            <a:endParaRPr sz="4080"/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3442226"/>
            <a:ext cx="8520600" cy="7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Student:</a:t>
            </a:r>
            <a:r>
              <a:rPr lang="ro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Mihai Țălu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r>
              <a:rPr b="1" lang="ro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ro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Lect</a:t>
            </a:r>
            <a:r>
              <a:rPr lang="ro" sz="1800">
                <a:solidFill>
                  <a:srgbClr val="595959"/>
                </a:solidFill>
              </a:rPr>
              <a:t>. Dr. </a:t>
            </a:r>
            <a:r>
              <a:rPr lang="ro" sz="18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Alina-Delia Călin</a:t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15"/>
          <p:cNvGrpSpPr/>
          <p:nvPr/>
        </p:nvGrpSpPr>
        <p:grpSpPr>
          <a:xfrm>
            <a:off x="571510" y="300875"/>
            <a:ext cx="8191731" cy="651625"/>
            <a:chOff x="381000" y="300875"/>
            <a:chExt cx="8382002" cy="651625"/>
          </a:xfrm>
        </p:grpSpPr>
        <p:sp>
          <p:nvSpPr>
            <p:cNvPr id="63" name="Google Shape;63;p15"/>
            <p:cNvSpPr/>
            <p:nvPr/>
          </p:nvSpPr>
          <p:spPr>
            <a:xfrm>
              <a:off x="381000" y="38100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 txBox="1"/>
            <p:nvPr/>
          </p:nvSpPr>
          <p:spPr>
            <a:xfrm>
              <a:off x="381002" y="300875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2600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 b="1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" name="Google Shape;65;p15"/>
          <p:cNvGrpSpPr/>
          <p:nvPr/>
        </p:nvGrpSpPr>
        <p:grpSpPr>
          <a:xfrm>
            <a:off x="571500" y="1476375"/>
            <a:ext cx="3667275" cy="381000"/>
            <a:chOff x="571500" y="1476375"/>
            <a:chExt cx="3667275" cy="381000"/>
          </a:xfrm>
        </p:grpSpPr>
        <p:sp>
          <p:nvSpPr>
            <p:cNvPr id="66" name="Google Shape;66;p15"/>
            <p:cNvSpPr/>
            <p:nvPr/>
          </p:nvSpPr>
          <p:spPr>
            <a:xfrm>
              <a:off x="571500" y="147637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 txBox="1"/>
            <p:nvPr/>
          </p:nvSpPr>
          <p:spPr>
            <a:xfrm>
              <a:off x="571500" y="1476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 txBox="1"/>
            <p:nvPr/>
          </p:nvSpPr>
          <p:spPr>
            <a:xfrm>
              <a:off x="1095375" y="1476375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Problem Domain &amp; Motivation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15"/>
          <p:cNvGrpSpPr/>
          <p:nvPr/>
        </p:nvGrpSpPr>
        <p:grpSpPr>
          <a:xfrm>
            <a:off x="571500" y="2143125"/>
            <a:ext cx="3712025" cy="381000"/>
            <a:chOff x="571500" y="1762125"/>
            <a:chExt cx="3712025" cy="381000"/>
          </a:xfrm>
        </p:grpSpPr>
        <p:sp>
          <p:nvSpPr>
            <p:cNvPr id="70" name="Google Shape;70;p15"/>
            <p:cNvSpPr/>
            <p:nvPr/>
          </p:nvSpPr>
          <p:spPr>
            <a:xfrm>
              <a:off x="571500" y="17621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571500" y="1762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1103825" y="1762125"/>
              <a:ext cx="317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State-of-the-Art Analysis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571500" y="2809875"/>
            <a:ext cx="3667275" cy="417900"/>
            <a:chOff x="571500" y="2809875"/>
            <a:chExt cx="3667275" cy="417900"/>
          </a:xfrm>
        </p:grpSpPr>
        <p:sp>
          <p:nvSpPr>
            <p:cNvPr id="74" name="Google Shape;74;p15"/>
            <p:cNvSpPr/>
            <p:nvPr/>
          </p:nvSpPr>
          <p:spPr>
            <a:xfrm>
              <a:off x="571500" y="280987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571500" y="28283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20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1095375" y="2809875"/>
              <a:ext cx="3143400" cy="41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Microservice Architecture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571500" y="3575425"/>
            <a:ext cx="3667275" cy="381000"/>
            <a:chOff x="571500" y="3575425"/>
            <a:chExt cx="3667275" cy="381000"/>
          </a:xfrm>
        </p:grpSpPr>
        <p:sp>
          <p:nvSpPr>
            <p:cNvPr id="78" name="Google Shape;78;p15"/>
            <p:cNvSpPr/>
            <p:nvPr/>
          </p:nvSpPr>
          <p:spPr>
            <a:xfrm>
              <a:off x="571500" y="35754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571500" y="35754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1095375" y="3575425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Deep Metric Learning Implementation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4905375" y="1457925"/>
            <a:ext cx="3667275" cy="399450"/>
            <a:chOff x="4905375" y="1457925"/>
            <a:chExt cx="3667275" cy="399450"/>
          </a:xfrm>
        </p:grpSpPr>
        <p:sp>
          <p:nvSpPr>
            <p:cNvPr id="82" name="Google Shape;82;p15"/>
            <p:cNvSpPr/>
            <p:nvPr/>
          </p:nvSpPr>
          <p:spPr>
            <a:xfrm>
              <a:off x="4905375" y="14579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4905375" y="14763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5429250" y="1476375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Empirical Results &amp; Evaluation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4905375" y="2143125"/>
            <a:ext cx="3631650" cy="381000"/>
            <a:chOff x="4905375" y="2143125"/>
            <a:chExt cx="3631650" cy="381000"/>
          </a:xfrm>
        </p:grpSpPr>
        <p:sp>
          <p:nvSpPr>
            <p:cNvPr id="86" name="Google Shape;86;p15"/>
            <p:cNvSpPr/>
            <p:nvPr/>
          </p:nvSpPr>
          <p:spPr>
            <a:xfrm>
              <a:off x="4905375" y="2143125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4905375" y="214312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5393625" y="2143125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Live System Demonstration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4905375" y="2809875"/>
            <a:ext cx="3667275" cy="381000"/>
            <a:chOff x="4905375" y="2286000"/>
            <a:chExt cx="3667275" cy="381000"/>
          </a:xfrm>
        </p:grpSpPr>
        <p:sp>
          <p:nvSpPr>
            <p:cNvPr id="90" name="Google Shape;90;p15"/>
            <p:cNvSpPr/>
            <p:nvPr/>
          </p:nvSpPr>
          <p:spPr>
            <a:xfrm>
              <a:off x="4905375" y="2286000"/>
              <a:ext cx="381000" cy="381000"/>
            </a:xfrm>
            <a:prstGeom prst="roundRect">
              <a:avLst>
                <a:gd fmla="val 20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4905375" y="22860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8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5429250" y="2286000"/>
              <a:ext cx="3143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Conclusions &amp; Future Horizons</a:t>
              </a:r>
              <a:endParaRPr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Problem Domain &amp; Motivation</a:t>
            </a:r>
            <a:endParaRPr b="1" sz="2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381000" y="1143000"/>
            <a:ext cx="4381500" cy="3429000"/>
            <a:chOff x="381000" y="1143000"/>
            <a:chExt cx="4381500" cy="3429000"/>
          </a:xfrm>
        </p:grpSpPr>
        <p:sp>
          <p:nvSpPr>
            <p:cNvPr id="100" name="Google Shape;100;p16"/>
            <p:cNvSpPr/>
            <p:nvPr/>
          </p:nvSpPr>
          <p:spPr>
            <a:xfrm>
              <a:off x="381000" y="1143000"/>
              <a:ext cx="4381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 txBox="1"/>
            <p:nvPr/>
          </p:nvSpPr>
          <p:spPr>
            <a:xfrm>
              <a:off x="609600" y="1371600"/>
              <a:ext cx="39243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33">
                <a:solidFill>
                  <a:srgbClr val="4F46E5"/>
                </a:solidFill>
                <a:highlight>
                  <a:srgbClr val="EEF2F6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o" sz="1403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The Vulnerability of Static Authentication</a:t>
              </a:r>
              <a:endParaRPr b="1" sz="1403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o" sz="1264">
                  <a:solidFill>
                    <a:srgbClr val="4B5563"/>
                  </a:solidFill>
                </a:rPr>
                <a:t>Static authentication (Passwords, one-time MFA) only verifies identity at the point of entry. </a:t>
              </a:r>
              <a:endParaRPr sz="1264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sz="1064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o" sz="1403">
                  <a:solidFill>
                    <a:srgbClr val="111827"/>
                  </a:solidFill>
                </a:rPr>
                <a:t>The Active Threat Landscape</a:t>
              </a:r>
              <a:endParaRPr b="1" sz="1403">
                <a:solidFill>
                  <a:srgbClr val="111827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ro" sz="1264">
                  <a:solidFill>
                    <a:srgbClr val="4B5563"/>
                  </a:solidFill>
                </a:rPr>
                <a:t>Susceptible to session hijacking, Pass-the-Cookie, and AiTM attacks. </a:t>
              </a:r>
              <a:endParaRPr sz="1264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sz="1064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ro" sz="1403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The Zero-Trust Imperative</a:t>
              </a:r>
              <a:endParaRPr b="1" i="1" sz="1403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1200"/>
                </a:spcAft>
                <a:buNone/>
              </a:pPr>
              <a:r>
                <a:rPr lang="ro" sz="1264">
                  <a:solidFill>
                    <a:srgbClr val="4B5563"/>
                  </a:solidFill>
                </a:rPr>
                <a:t>"Never trust, always verify." Requires continuous authorization without disrupting the user's workflow. </a:t>
              </a:r>
              <a:endParaRPr b="0" sz="1264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6"/>
          <p:cNvSpPr/>
          <p:nvPr/>
        </p:nvSpPr>
        <p:spPr>
          <a:xfrm>
            <a:off x="4953000" y="1143000"/>
            <a:ext cx="3810000" cy="3429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E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350" y="1187863"/>
            <a:ext cx="3339276" cy="333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1" lang="ro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State-of-the-Art Analysis</a:t>
            </a:r>
            <a:endParaRPr b="1" sz="2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3048000" y="1333500"/>
            <a:ext cx="0" cy="30480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6096000" y="1333500"/>
            <a:ext cx="0" cy="304800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381000" y="1238250"/>
            <a:ext cx="23814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TRADITIONAL MODELS</a:t>
            </a:r>
            <a:endParaRPr b="1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900"/>
              </a:spcBef>
              <a:spcAft>
                <a:spcPts val="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Rely on fixed-text passwords or require massive datasets to train unique classifiers per user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3429000" y="1238250"/>
            <a:ext cx="23814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MODERN DEEP LEARNING</a:t>
            </a:r>
            <a:endParaRPr b="1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900"/>
              </a:spcBef>
              <a:spcAft>
                <a:spcPts val="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Achieve impressive laboratory accuracy (AUC &gt; 0.99)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750"/>
              </a:spcBef>
              <a:spcAft>
                <a:spcPts val="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Inhibit real-world utility by requiring long observation windows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750"/>
              </a:spcBef>
              <a:spcAft>
                <a:spcPts val="75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Demand 50 to 150 keystrokes before verification completes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6477000" y="1238250"/>
            <a:ext cx="2286000" cy="31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ENGINEERING GAP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900"/>
              </a:spcBef>
              <a:spcAft>
                <a:spcPts val="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Translating research models into active corporate networks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750"/>
              </a:spcBef>
              <a:spcAft>
                <a:spcPts val="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Requires continuous, </a:t>
            </a:r>
            <a:r>
              <a:rPr lang="ro" sz="1450">
                <a:solidFill>
                  <a:srgbClr val="4B5563"/>
                </a:solidFill>
              </a:rPr>
              <a:t>low</a:t>
            </a: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 latency execution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675" lvl="0" marL="457200" rtl="0" algn="l">
              <a:spcBef>
                <a:spcPts val="750"/>
              </a:spcBef>
              <a:spcAft>
                <a:spcPts val="750"/>
              </a:spcAft>
              <a:buClr>
                <a:srgbClr val="4B5563"/>
              </a:buClr>
              <a:buSzPts val="1450"/>
              <a:buFont typeface="Arial"/>
              <a:buChar char="●"/>
            </a:pPr>
            <a:r>
              <a:rPr b="0" lang="ro" sz="14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rPr>
              <a:t>Demands minimal sequence lengths to ensure frictionless user access</a:t>
            </a:r>
            <a:endParaRPr b="0" sz="1450">
              <a:solidFill>
                <a:srgbClr val="4B55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381000" y="2925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ro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Proposed Microservices Architecture</a:t>
            </a:r>
            <a:endParaRPr b="1" sz="2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18"/>
          <p:cNvGrpSpPr/>
          <p:nvPr/>
        </p:nvGrpSpPr>
        <p:grpSpPr>
          <a:xfrm>
            <a:off x="380975" y="1143023"/>
            <a:ext cx="3810000" cy="3797617"/>
            <a:chOff x="381000" y="1142995"/>
            <a:chExt cx="3810000" cy="3429000"/>
          </a:xfrm>
        </p:grpSpPr>
        <p:sp>
          <p:nvSpPr>
            <p:cNvPr id="122" name="Google Shape;122;p18"/>
            <p:cNvSpPr/>
            <p:nvPr/>
          </p:nvSpPr>
          <p:spPr>
            <a:xfrm>
              <a:off x="381000" y="1142995"/>
              <a:ext cx="38100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609600" y="1381125"/>
              <a:ext cx="304800" cy="3048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 txBox="1"/>
            <p:nvPr/>
          </p:nvSpPr>
          <p:spPr>
            <a:xfrm>
              <a:off x="609600" y="13811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2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2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8"/>
            <p:cNvSpPr txBox="1"/>
            <p:nvPr/>
          </p:nvSpPr>
          <p:spPr>
            <a:xfrm>
              <a:off x="1028700" y="1362071"/>
              <a:ext cx="12501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Vue 3 SPA</a:t>
              </a:r>
              <a:endParaRPr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Telemetry Sensor</a:t>
              </a:r>
              <a:endParaRPr b="0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609600" y="2143125"/>
              <a:ext cx="304800" cy="3048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609600" y="21431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2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2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8"/>
            <p:cNvSpPr txBox="1"/>
            <p:nvPr/>
          </p:nvSpPr>
          <p:spPr>
            <a:xfrm>
              <a:off x="1028700" y="2124081"/>
              <a:ext cx="1828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Spring Boot Gateway</a:t>
              </a:r>
              <a:endParaRPr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Policy Enforcement</a:t>
              </a:r>
              <a:endParaRPr b="0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609600" y="2905125"/>
              <a:ext cx="304800" cy="3048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 txBox="1"/>
            <p:nvPr/>
          </p:nvSpPr>
          <p:spPr>
            <a:xfrm>
              <a:off x="609600" y="29051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2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2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1028700" y="2886067"/>
              <a:ext cx="213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Redis</a:t>
              </a:r>
              <a:endParaRPr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Asynchronous Event Broker</a:t>
              </a:r>
              <a:endParaRPr b="0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09600" y="3667125"/>
              <a:ext cx="304800" cy="304800"/>
            </a:xfrm>
            <a:prstGeom prst="roundRect">
              <a:avLst>
                <a:gd fmla="val 25000" name="adj"/>
              </a:avLst>
            </a:prstGeom>
            <a:solidFill>
              <a:srgbClr val="EEF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609600" y="36671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 sz="12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200">
                <a:solidFill>
                  <a:srgbClr val="4F46E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1028700" y="3648076"/>
              <a:ext cx="21315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Python / PyTorch</a:t>
              </a:r>
              <a:endParaRPr b="1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"/>
                </a:spcBef>
                <a:spcAft>
                  <a:spcPts val="0"/>
                </a:spcAft>
                <a:buNone/>
              </a:pPr>
              <a:r>
                <a:rPr b="0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Isolated Inference Daemon</a:t>
              </a:r>
              <a:endParaRPr b="0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8"/>
          <p:cNvGrpSpPr/>
          <p:nvPr/>
        </p:nvGrpSpPr>
        <p:grpSpPr>
          <a:xfrm>
            <a:off x="4572000" y="1142997"/>
            <a:ext cx="4191000" cy="3797617"/>
            <a:chOff x="4953000" y="1143000"/>
            <a:chExt cx="3810000" cy="3429000"/>
          </a:xfrm>
        </p:grpSpPr>
        <p:sp>
          <p:nvSpPr>
            <p:cNvPr id="136" name="Google Shape;136;p18"/>
            <p:cNvSpPr/>
            <p:nvPr/>
          </p:nvSpPr>
          <p:spPr>
            <a:xfrm>
              <a:off x="4953000" y="1143000"/>
              <a:ext cx="38100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133975" y="1323975"/>
              <a:ext cx="3448200" cy="306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18"/>
          <p:cNvSpPr/>
          <p:nvPr/>
        </p:nvSpPr>
        <p:spPr>
          <a:xfrm>
            <a:off x="6248700" y="1295063"/>
            <a:ext cx="837600" cy="57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Vue 3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257700" y="2226852"/>
            <a:ext cx="819600" cy="64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Spring Boot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257700" y="3229438"/>
            <a:ext cx="819600" cy="57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Redis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257700" y="4178925"/>
            <a:ext cx="819600" cy="50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Python</a:t>
            </a:r>
            <a:endParaRPr/>
          </a:p>
        </p:txBody>
      </p:sp>
      <p:cxnSp>
        <p:nvCxnSpPr>
          <p:cNvPr id="142" name="Google Shape;142;p18"/>
          <p:cNvCxnSpPr>
            <a:stCxn id="138" idx="2"/>
            <a:endCxn id="139" idx="0"/>
          </p:cNvCxnSpPr>
          <p:nvPr/>
        </p:nvCxnSpPr>
        <p:spPr>
          <a:xfrm>
            <a:off x="6667500" y="1866563"/>
            <a:ext cx="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18"/>
          <p:cNvCxnSpPr>
            <a:stCxn id="139" idx="2"/>
            <a:endCxn id="140" idx="0"/>
          </p:cNvCxnSpPr>
          <p:nvPr/>
        </p:nvCxnSpPr>
        <p:spPr>
          <a:xfrm>
            <a:off x="6667500" y="2869152"/>
            <a:ext cx="0" cy="36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8"/>
          <p:cNvCxnSpPr>
            <a:stCxn id="140" idx="2"/>
            <a:endCxn id="141" idx="0"/>
          </p:cNvCxnSpPr>
          <p:nvPr/>
        </p:nvCxnSpPr>
        <p:spPr>
          <a:xfrm>
            <a:off x="6667500" y="3800938"/>
            <a:ext cx="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81000" y="29282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Deep Metric Learning Implementation</a:t>
            </a:r>
            <a:endParaRPr b="1" sz="2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19"/>
          <p:cNvGrpSpPr/>
          <p:nvPr/>
        </p:nvGrpSpPr>
        <p:grpSpPr>
          <a:xfrm>
            <a:off x="381000" y="1143000"/>
            <a:ext cx="3048000" cy="3429000"/>
            <a:chOff x="381000" y="1143000"/>
            <a:chExt cx="3048000" cy="3429000"/>
          </a:xfrm>
        </p:grpSpPr>
        <p:sp>
          <p:nvSpPr>
            <p:cNvPr id="152" name="Google Shape;152;p19"/>
            <p:cNvSpPr/>
            <p:nvPr/>
          </p:nvSpPr>
          <p:spPr>
            <a:xfrm>
              <a:off x="381000" y="1143000"/>
              <a:ext cx="3048000" cy="3429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571500" y="1402300"/>
              <a:ext cx="2667000" cy="2979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Architecture &amp; Features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B7280"/>
                </a:buClr>
                <a:buSzPts val="1250"/>
                <a:buFont typeface="Arial"/>
                <a:buChar char="●"/>
              </a:pPr>
              <a:r>
                <a:rPr b="1" lang="ro" sz="125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Input:</a:t>
              </a:r>
              <a:r>
                <a:rPr b="1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Dwell Time (DT) &amp; Flight Time (FT).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</a:endParaRPr>
            </a:p>
            <a:p>
              <a:pPr indent="-3079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B7280"/>
                </a:buClr>
                <a:buSzPts val="1250"/>
                <a:buFont typeface="Arial"/>
                <a:buChar char="●"/>
              </a:pPr>
              <a:r>
                <a:rPr b="1" lang="ro" sz="125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Window:</a:t>
              </a:r>
              <a:r>
                <a:rPr b="1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Fixed N=20 keystroke events.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ro" sz="13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Loss &amp; Embedding Space</a:t>
              </a:r>
              <a:endParaRPr b="1" sz="10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797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6B7280"/>
                </a:buClr>
                <a:buSzPts val="1250"/>
                <a:buFont typeface="Arial"/>
                <a:buChar char="●"/>
              </a:pPr>
              <a:r>
                <a:rPr b="1" lang="ro" sz="125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Loss:</a:t>
              </a:r>
              <a:r>
                <a:rPr b="1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Triplet Margin.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45720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</a:endParaRPr>
            </a:p>
            <a:p>
              <a:pPr indent="-30797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B7280"/>
                </a:buClr>
                <a:buSzPts val="1250"/>
                <a:buFont typeface="Arial"/>
                <a:buChar char="●"/>
              </a:pPr>
              <a:r>
                <a:rPr b="1" lang="ro" sz="125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Output:</a:t>
              </a:r>
              <a:r>
                <a:rPr b="1" lang="ro" sz="125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128-dimensional latent embedding.</a:t>
              </a:r>
              <a:endParaRPr b="1" sz="125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19"/>
          <p:cNvGrpSpPr/>
          <p:nvPr/>
        </p:nvGrpSpPr>
        <p:grpSpPr>
          <a:xfrm>
            <a:off x="3619500" y="1143000"/>
            <a:ext cx="5420400" cy="3429000"/>
            <a:chOff x="3619500" y="1143000"/>
            <a:chExt cx="5420400" cy="3429000"/>
          </a:xfrm>
        </p:grpSpPr>
        <p:sp>
          <p:nvSpPr>
            <p:cNvPr id="155" name="Google Shape;155;p19"/>
            <p:cNvSpPr/>
            <p:nvPr/>
          </p:nvSpPr>
          <p:spPr>
            <a:xfrm>
              <a:off x="3619500" y="1143000"/>
              <a:ext cx="54204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Google Shape;156;p19"/>
            <p:cNvGrpSpPr/>
            <p:nvPr/>
          </p:nvGrpSpPr>
          <p:grpSpPr>
            <a:xfrm>
              <a:off x="3810000" y="1714500"/>
              <a:ext cx="1066800" cy="2286000"/>
              <a:chOff x="3810000" y="1714500"/>
              <a:chExt cx="1066800" cy="2286000"/>
            </a:xfrm>
          </p:grpSpPr>
          <p:sp>
            <p:nvSpPr>
              <p:cNvPr id="157" name="Google Shape;157;p19"/>
              <p:cNvSpPr/>
              <p:nvPr/>
            </p:nvSpPr>
            <p:spPr>
              <a:xfrm>
                <a:off x="3810000" y="1714500"/>
                <a:ext cx="1066800" cy="2286000"/>
              </a:xfrm>
              <a:prstGeom prst="roundRect">
                <a:avLst>
                  <a:gd fmla="val 10714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9"/>
              <p:cNvSpPr txBox="1"/>
              <p:nvPr/>
            </p:nvSpPr>
            <p:spPr>
              <a:xfrm>
                <a:off x="3924300" y="1828800"/>
                <a:ext cx="8382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o" sz="1600">
                    <a:solidFill>
                      <a:srgbClr val="4F46E5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6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ro" sz="1200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Telemetry</a:t>
                </a:r>
                <a:endParaRPr b="1"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ro" sz="125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Bivariate timing sequences (DT/FT).</a:t>
                </a:r>
                <a:endParaRPr b="0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59" name="Google Shape;15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962525" y="2847975"/>
              <a:ext cx="1143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57775" y="2828925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" name="Google Shape;161;p19"/>
            <p:cNvGrpSpPr/>
            <p:nvPr/>
          </p:nvGrpSpPr>
          <p:grpSpPr>
            <a:xfrm>
              <a:off x="5162550" y="1714500"/>
              <a:ext cx="1066800" cy="2286000"/>
              <a:chOff x="5162550" y="1714500"/>
              <a:chExt cx="1066800" cy="2286000"/>
            </a:xfrm>
          </p:grpSpPr>
          <p:sp>
            <p:nvSpPr>
              <p:cNvPr id="162" name="Google Shape;162;p19"/>
              <p:cNvSpPr/>
              <p:nvPr/>
            </p:nvSpPr>
            <p:spPr>
              <a:xfrm>
                <a:off x="5162550" y="1714500"/>
                <a:ext cx="1066800" cy="2286000"/>
              </a:xfrm>
              <a:prstGeom prst="roundRect">
                <a:avLst>
                  <a:gd fmla="val 10714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9"/>
              <p:cNvSpPr txBox="1"/>
              <p:nvPr/>
            </p:nvSpPr>
            <p:spPr>
              <a:xfrm>
                <a:off x="5276850" y="1828800"/>
                <a:ext cx="8382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o" sz="1600">
                    <a:solidFill>
                      <a:srgbClr val="4F46E5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6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ro" sz="1200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Extractor</a:t>
                </a:r>
                <a:endParaRPr b="1"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ro" sz="125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Dual 1D-CNN and GRU processing.</a:t>
                </a:r>
                <a:endParaRPr b="0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4" name="Google Shape;16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315075" y="2847975"/>
              <a:ext cx="1143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10325" y="2828925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6" name="Google Shape;166;p19"/>
            <p:cNvGrpSpPr/>
            <p:nvPr/>
          </p:nvGrpSpPr>
          <p:grpSpPr>
            <a:xfrm>
              <a:off x="6515100" y="1714500"/>
              <a:ext cx="1066800" cy="2286000"/>
              <a:chOff x="6515100" y="1714500"/>
              <a:chExt cx="1066800" cy="2286000"/>
            </a:xfrm>
          </p:grpSpPr>
          <p:sp>
            <p:nvSpPr>
              <p:cNvPr id="167" name="Google Shape;167;p19"/>
              <p:cNvSpPr/>
              <p:nvPr/>
            </p:nvSpPr>
            <p:spPr>
              <a:xfrm>
                <a:off x="6515100" y="1714500"/>
                <a:ext cx="1066800" cy="2286000"/>
              </a:xfrm>
              <a:prstGeom prst="roundRect">
                <a:avLst>
                  <a:gd fmla="val 10714" name="adj"/>
                </a:avLst>
              </a:prstGeom>
              <a:solidFill>
                <a:srgbClr val="F9FAFB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9"/>
              <p:cNvSpPr txBox="1"/>
              <p:nvPr/>
            </p:nvSpPr>
            <p:spPr>
              <a:xfrm>
                <a:off x="6629400" y="1828800"/>
                <a:ext cx="8382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o" sz="1600">
                    <a:solidFill>
                      <a:srgbClr val="4F46E5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600">
                  <a:solidFill>
                    <a:srgbClr val="4F46E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ro" sz="1200">
                    <a:solidFill>
                      <a:srgbClr val="111827"/>
                    </a:solidFill>
                    <a:latin typeface="Arial"/>
                    <a:ea typeface="Arial"/>
                    <a:cs typeface="Arial"/>
                    <a:sym typeface="Arial"/>
                  </a:rPr>
                  <a:t>Embedding</a:t>
                </a:r>
                <a:endParaRPr b="1" sz="12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ro" sz="125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128-D </a:t>
                </a:r>
                <a:r>
                  <a:rPr lang="ro" sz="1250">
                    <a:solidFill>
                      <a:srgbClr val="4B5563"/>
                    </a:solidFill>
                  </a:rPr>
                  <a:t>discriminative</a:t>
                </a:r>
                <a:r>
                  <a:rPr b="0" lang="ro" sz="1250">
                    <a:solidFill>
                      <a:srgbClr val="4B5563"/>
                    </a:solidFill>
                    <a:latin typeface="Arial"/>
                    <a:ea typeface="Arial"/>
                    <a:cs typeface="Arial"/>
                    <a:sym typeface="Arial"/>
                  </a:rPr>
                  <a:t> projection.</a:t>
                </a:r>
                <a:endParaRPr b="0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69" name="Google Shape;169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67625" y="2847975"/>
              <a:ext cx="1143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62875" y="2828925"/>
              <a:ext cx="573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" name="Google Shape;171;p19"/>
            <p:cNvGrpSpPr/>
            <p:nvPr/>
          </p:nvGrpSpPr>
          <p:grpSpPr>
            <a:xfrm>
              <a:off x="7867650" y="1714500"/>
              <a:ext cx="1066800" cy="2286000"/>
              <a:chOff x="7867650" y="1714500"/>
              <a:chExt cx="1066800" cy="2286000"/>
            </a:xfrm>
          </p:grpSpPr>
          <p:sp>
            <p:nvSpPr>
              <p:cNvPr id="172" name="Google Shape;172;p19"/>
              <p:cNvSpPr/>
              <p:nvPr/>
            </p:nvSpPr>
            <p:spPr>
              <a:xfrm>
                <a:off x="7867650" y="1714500"/>
                <a:ext cx="1066800" cy="2286000"/>
              </a:xfrm>
              <a:prstGeom prst="roundRect">
                <a:avLst>
                  <a:gd fmla="val 10714" name="adj"/>
                </a:avLst>
              </a:prstGeom>
              <a:solidFill>
                <a:srgbClr val="4F46E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9"/>
              <p:cNvSpPr txBox="1"/>
              <p:nvPr/>
            </p:nvSpPr>
            <p:spPr>
              <a:xfrm>
                <a:off x="7981950" y="1828800"/>
                <a:ext cx="838200" cy="20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ro" sz="1600">
                    <a:solidFill>
                      <a:srgbClr val="EEF2F6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600">
                  <a:solidFill>
                    <a:srgbClr val="EEF2F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ro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Evaluation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0" lang="ro" sz="1250">
                    <a:solidFill>
                      <a:srgbClr val="E0E7FF"/>
                    </a:solidFill>
                    <a:latin typeface="Arial"/>
                    <a:ea typeface="Arial"/>
                    <a:cs typeface="Arial"/>
                    <a:sym typeface="Arial"/>
                  </a:rPr>
                  <a:t>Euclidean distance &amp; trust scoring.</a:t>
                </a:r>
                <a:endParaRPr b="0" sz="1250">
                  <a:solidFill>
                    <a:srgbClr val="E0E7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Google Shape;174;p19"/>
            <p:cNvSpPr txBox="1"/>
            <p:nvPr/>
          </p:nvSpPr>
          <p:spPr>
            <a:xfrm>
              <a:off x="3810000" y="1371600"/>
              <a:ext cx="2857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INFERENCE PIPELINE STAGES</a:t>
              </a:r>
              <a:endParaRPr b="1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1" lang="ro" sz="2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Empirical Results &amp; Evaluation</a:t>
            </a:r>
            <a:endParaRPr b="1" sz="2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20"/>
          <p:cNvGrpSpPr/>
          <p:nvPr/>
        </p:nvGrpSpPr>
        <p:grpSpPr>
          <a:xfrm>
            <a:off x="381000" y="1143000"/>
            <a:ext cx="4381500" cy="3429000"/>
            <a:chOff x="381000" y="1143000"/>
            <a:chExt cx="4381500" cy="3429000"/>
          </a:xfrm>
        </p:grpSpPr>
        <p:sp>
          <p:nvSpPr>
            <p:cNvPr id="182" name="Google Shape;182;p20"/>
            <p:cNvSpPr/>
            <p:nvPr/>
          </p:nvSpPr>
          <p:spPr>
            <a:xfrm>
              <a:off x="381000" y="1143000"/>
              <a:ext cx="4381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609600" y="1371600"/>
              <a:ext cx="39243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0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Dataset: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Aalto University 136M Keystrokes.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Discriminatory Power: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 Area Under the Curve (AUC) = 0.9000 under algorithmic stress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75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Operational Threshold:</a:t>
              </a:r>
              <a:r>
                <a:rPr b="0" lang="ro" sz="1250">
                  <a:solidFill>
                    <a:srgbClr val="4B5563"/>
                  </a:solidFill>
                  <a:latin typeface="Arial"/>
                  <a:ea typeface="Arial"/>
                  <a:cs typeface="Arial"/>
                  <a:sym typeface="Arial"/>
                </a:rPr>
                <a:t> Euclidean distance ≈ 1.6 maps directly to a 70% Administrative Trust Score.</a:t>
              </a:r>
              <a:endParaRPr b="0" sz="1250">
                <a:solidFill>
                  <a:srgbClr val="4B55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-1112" r="0" t="0"/>
          <a:stretch/>
        </p:blipFill>
        <p:spPr>
          <a:xfrm>
            <a:off x="4982975" y="1143000"/>
            <a:ext cx="3995225" cy="337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/>
        </p:nvSpPr>
        <p:spPr>
          <a:xfrm>
            <a:off x="762000" y="1593150"/>
            <a:ext cx="7620000" cy="19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3615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Live System Demonstration</a:t>
            </a:r>
            <a:endParaRPr b="1" sz="3615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762000" y="4619625"/>
            <a:ext cx="762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381000" y="3810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2600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rPr>
              <a:t>Conclusions &amp; Future Horizons</a:t>
            </a:r>
            <a:endParaRPr b="1" sz="2600">
              <a:solidFill>
                <a:srgbClr val="11182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7" name="Google Shape;197;p22"/>
          <p:cNvGrpSpPr/>
          <p:nvPr/>
        </p:nvGrpSpPr>
        <p:grpSpPr>
          <a:xfrm>
            <a:off x="381000" y="1143000"/>
            <a:ext cx="4000500" cy="3429000"/>
            <a:chOff x="381000" y="1143000"/>
            <a:chExt cx="4000500" cy="3429000"/>
          </a:xfrm>
        </p:grpSpPr>
        <p:sp>
          <p:nvSpPr>
            <p:cNvPr id="198" name="Google Shape;198;p22"/>
            <p:cNvSpPr/>
            <p:nvPr/>
          </p:nvSpPr>
          <p:spPr>
            <a:xfrm>
              <a:off x="381000" y="1143000"/>
              <a:ext cx="4000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2"/>
            <p:cNvSpPr txBox="1"/>
            <p:nvPr/>
          </p:nvSpPr>
          <p:spPr>
            <a:xfrm>
              <a:off x="609600" y="1371600"/>
              <a:ext cx="35433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Impostor Detection:</a:t>
              </a:r>
              <a:r>
                <a:rPr lang="ro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Achieved Zero-Shot detection accuracy with </a:t>
              </a:r>
              <a:r>
                <a:rPr b="1" lang="ro" sz="1250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AUC = 0.9000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Architecture Isolation:</a:t>
              </a:r>
              <a:r>
                <a:rPr lang="ro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Engineered an event-driven, polyglot microservices system that enforces continuous Zero-Trust Network Access. </a:t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0" name="Google Shape;200;p22"/>
          <p:cNvGrpSpPr/>
          <p:nvPr/>
        </p:nvGrpSpPr>
        <p:grpSpPr>
          <a:xfrm>
            <a:off x="4762500" y="1143000"/>
            <a:ext cx="4000500" cy="3429000"/>
            <a:chOff x="4762500" y="1143000"/>
            <a:chExt cx="4000500" cy="3429000"/>
          </a:xfrm>
        </p:grpSpPr>
        <p:sp>
          <p:nvSpPr>
            <p:cNvPr id="201" name="Google Shape;201;p22"/>
            <p:cNvSpPr/>
            <p:nvPr/>
          </p:nvSpPr>
          <p:spPr>
            <a:xfrm>
              <a:off x="4762500" y="1143000"/>
              <a:ext cx="4000500" cy="34290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EEF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 txBox="1"/>
            <p:nvPr/>
          </p:nvSpPr>
          <p:spPr>
            <a:xfrm>
              <a:off x="4991100" y="1371600"/>
              <a:ext cx="35433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Multi-Modal Fusion: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Incorporate additional behavioral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biometrics including mouse dynamics.</a:t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b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</a:b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1050"/>
                </a:spcAft>
                <a:buNone/>
              </a:pPr>
              <a:r>
                <a:rPr b="1" lang="ro">
                  <a:solidFill>
                    <a:srgbClr val="111827"/>
                  </a:solidFill>
                  <a:latin typeface="Inter"/>
                  <a:ea typeface="Inter"/>
                  <a:cs typeface="Inter"/>
                  <a:sym typeface="Inter"/>
                </a:rPr>
                <a:t>Federated Learning:</a:t>
              </a:r>
              <a:r>
                <a:rPr lang="ro" sz="10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ro" sz="1250">
                  <a:solidFill>
                    <a:srgbClr val="4B5563"/>
                  </a:solidFill>
                  <a:latin typeface="Inter"/>
                  <a:ea typeface="Inter"/>
                  <a:cs typeface="Inter"/>
                  <a:sym typeface="Inter"/>
                </a:rPr>
                <a:t>Privacy-preserving profile adaptation.</a:t>
              </a:r>
              <a:endParaRPr sz="125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